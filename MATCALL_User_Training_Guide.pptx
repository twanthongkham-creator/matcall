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84F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D3A7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C8A7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MATCALL CALL-OFF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คู่มือการใช้งานระบบ MATCALL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สำหรับผู้ใช้งานแผนกผลิต และแผนกคลังสินค้า ทุกโรงงาน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0C8A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ขั้นตอนการทำงาน  •  บทบาทหน้าที่แต่ละแผนก  •  การใช้งานทีละหน้าจอ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เตรียมความพร้อมขยายการใช้งานสู่ 5 โรงงาน  |  กรกฎาคม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MATCALL คืออะไร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28016" cy="1051560"/>
          </a:xfrm>
          <a:prstGeom prst="roundRect">
            <a:avLst>
              <a:gd name="adj" fmla="val 21429"/>
            </a:avLst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ปัญหาเดิม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60020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การเรียกเข้าวัตถุดิบยังใช้ PowerApps / วิธีการที่ไม่รวมศูนย์ ทำให้ติดตามสถานะ PO และการรับของยาก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28016" cy="1051560"/>
          </a:xfrm>
          <a:prstGeom prst="roundRect">
            <a:avLst>
              <a:gd name="adj" fmla="val 21429"/>
            </a:avLst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1752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MATCALL คือคำตอบ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01752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Web App กลาง เชื่อมข้อมูลแผนผลิต แผนคลัง และ PO จาก SAP ไว้ที่เดียว ใช้งานได้ทุกที่ผ่านเบราว์เซอร์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28016" cy="1051560"/>
          </a:xfrm>
          <a:prstGeom prst="roundRect">
            <a:avLst>
              <a:gd name="adj" fmla="val 21429"/>
            </a:avLst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3484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ใช้งานจริงแล้ว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443484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โรงงานปทุมธานี (PT) ใช้งานระบบนี้เป็นโรงงานนำร่อง และกำลังขยายผลไปยังอีก 5 โรงงาน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โครงสร้างการทำงาน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บทบาทและหน้าที่ของแต่ละแผนก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8745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D3A70"/>
          </a:solidFill>
          <a:ln w="12700">
            <a:solidFill>
              <a:srgbClr val="1D3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แผนกผลิต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ผู้ร้องขอ (Requester)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สร้างแผนเรียกเข้าวัตถุดิบ ระบุ โรงงาน / วัตถุดิบ / Supplier / วันที่ต้องการ และติดตามสถานะการจัดส่ง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26380" y="18745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0C8A7E"/>
          </a:solidFill>
          <a:ln w="12700">
            <a:solidFill>
              <a:srgbClr val="0C8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638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แผนกคลัง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ผู้ตรวจสอบและดำเนินการ (Verifier)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ตรวจสอบรายการ ผูก PO จากระบบ SAP เข้ากับคำขอ ส่งอีเมลแจ้ง Supplier และบันทึกรับวัตถุดิบเข้าคลัง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075420" y="18745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542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3375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จัดการรายชื่ออีเมลผู้เกี่ยวข้อง กำหนดสิทธิ์ผู้ใช้งาน และดูภาพรวมทุกโรงงาน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8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ขั้นตอนการทำงาน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ภาพรวมกระบวนการ Call-off ตั้งแต่ต้นจนจบ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1D3A70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5588" y="2350008"/>
            <a:ext cx="512064" cy="512064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5588" y="2350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แผนกผลิต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สร้างคำขอ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ระบุโรงงาน วัตถุดิบ Supplier วันที่ต้องการ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14600" y="2971800"/>
            <a:ext cx="3154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0068" y="21488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1D3A70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7016" y="2350008"/>
            <a:ext cx="512064" cy="512064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2350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39796" y="30175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แผนกคลัง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 + ผูก PO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67228" y="36118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เลือกเลขที่ PO จาก SAP ให้ตรงกับคำขอ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96028" y="2971800"/>
            <a:ext cx="3154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11496" y="21488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1D3A70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8444" y="2350008"/>
            <a:ext cx="512064" cy="512064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8444" y="2350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21224" y="30175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แผนกคลัง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ส่งอีเมล Supplier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48656" y="36118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แจ้งกำหนดส่งมอบให้ผู้ผลิต/ซัพพลายเออร์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77456" y="2971800"/>
            <a:ext cx="3154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92924" y="21488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1D3A70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2350008"/>
            <a:ext cx="512064" cy="512064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2350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02652" y="30175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Supplier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จัดส่งวัตถุดิบ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30084" y="36118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ส่งมอบตามวันที่และจำนวนที่แจ้ง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8884" y="2971800"/>
            <a:ext cx="3154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74352" y="21488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1D3A70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01300" y="2350008"/>
            <a:ext cx="512064" cy="512064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01300" y="2350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84080" y="30175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แผนกคลัง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บันทึกรับเข้า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811512" y="36118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ชั่งน้ำหนัก บันทึก Goods Receipt ปิดรายการ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1 · ทุกแผนก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 (Login)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230368" cy="244144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0">
                <a:alpha val="35000"/>
              </a:srgbClr>
            </a:outerShdw>
          </a:effectLst>
        </p:spPr>
      </p:sp>
      <p:pic>
        <p:nvPicPr>
          <p:cNvPr id="5" name="Image 0" descr="/tmp/deckbuild/img/08_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120640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0416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หน้าจอเข้าสู่ระบบ MATCALL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691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เปิดเบราว์เซอร์ไปที่ลิงก์ระบบ MATCALL ของบริษัท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2697480"/>
            <a:ext cx="109728" cy="109728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26517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 รหัสพนักงาน (Employee ID) และ รหัสผ่าน ตามที่ได้รับจากผู้ดูแลระบบ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89320" y="3657600"/>
            <a:ext cx="109728" cy="109728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36118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“ลงชื่อเข้าใช้งาน” ระบบจะพาไปยังหน้าหลักตามสิทธิ์ของแผนกโดยอัตโนมัติ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4617720"/>
            <a:ext cx="109728" cy="109728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45720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หากลืมรหัสผ่านหรือยังไม่มีบัญชีผู้ใช้งาน ให้ติดต่อ Admin ของระบบเพื่อขอสิทธิ์เข้าใช้งาน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2 · ทุกแผนก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หน้าหลัก (Dashboard)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42492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0">
                <a:alpha val="35000"/>
              </a:srgbClr>
            </a:outerShdw>
          </a:effectLst>
        </p:spPr>
      </p:sp>
      <p:pic>
        <p:nvPicPr>
          <p:cNvPr id="5" name="Image 0" descr="/tmp/deckbuild/img/02_dashboard_kp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0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การ์ดสรุป KPI และกราฟแผน vs รับจริงรายวัน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สรุปภาพรวมทันทีที่เข้าระบบ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21945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แผนรวม / รับจริงรวม (กก.) และ Fulfillment Rate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2971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จำนวนรายการทั้งหมด แยกตามรับเสร็จแล้ว / รอรับ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816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กราฟเปรียบเทียบแผนกับยอดรับจริงรายวัน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38160" y="4526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ผู้ใช้งานแต่ละแผนกเห็นข้อมูลเฉพาะโรงงานของตน (Admin เห็นทุกโรงงาน)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2 (ต่อ) · ทุกแผนก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ยอดคงเหลือตาม PO (PO Balance)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42492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0">
                <a:alpha val="35000"/>
              </a:srgbClr>
            </a:outerShdw>
          </a:effectLst>
        </p:spPr>
      </p:sp>
      <p:pic>
        <p:nvPicPr>
          <p:cNvPr id="5" name="Image 0" descr="/tmp/deckbuild/img/03_dashboard_poch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0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กราฟแสดงยอดรับแล้ว / คงเหลือ แยกตามเลขที่ PO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691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ใช้ติดตามความคืบหน้าแต่ละ PO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2331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เลือกดูตามชื่อวัตถุดิบ (Bioligo IMO, CO2, HFS42%, Liquid Sugar)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32461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แต่ละแท่งคือ 1 เลขที่ PO แสดงสัดส่วนรับแล้ว (สีเขียว) และคงเหลือ (สีส้ม)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8160" y="4160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ช่วยให้แผนกผลิตและแผนกคลังเห็นตรงกันว่า PO ใดใกล้ครบแล้ว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8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286000"/>
            <a:ext cx="6400800" cy="6400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3317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D3A70"/>
          </a:solidFill>
          <a:ln w="12700">
            <a:solidFill>
              <a:srgbClr val="1D3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แผนกผลิต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ส่วนที่ 1: การใช้งานของแผนกผลิต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C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สร้างคำขอเรียกเข้าวัตถุดิบ และติดตามสถานะ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บทบาทและหน้าที่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54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ผู้ร้องขอ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3 · แผนกผลิต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สร้างแผนเรียกเข้าวัตถุดิบ (เมนู “เรียกเข้าวัตถุดิบ”)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42492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0">
                <a:alpha val="35000"/>
              </a:srgbClr>
            </a:outerShdw>
          </a:effectLst>
        </p:spPr>
      </p:sp>
      <p:pic>
        <p:nvPicPr>
          <p:cNvPr id="5" name="Image 0" descr="/tmp/deckbuild/img/04_request_emp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0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ฟอร์มสร้างคำขอ และตะกร้ารายการที่ยังไม่บันทึก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วิธีกรอกข้อมูล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เลือก โรงงาน (PLANT) ก่อน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290779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เลือก วัตถุดิบ ที่ต้องการเรียกเข้า (ตัวเลือกจะปรับตามโรงงาน)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8160" y="362102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เลือก Supplier / ผู้ผลิต ที่สัมพันธ์กับวัตถุดิบนั้น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38160" y="433425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ระบุ วันส่งมอบ ที่ต้องการ แล้วกด “เพิ่มใส่ตะกร้า”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3 (ต่อ) · แผนกผลิต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ตะกร้ารายการ และการบันทึก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8A7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 ตรวจสอบตะกร้า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828800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รายการที่เพิ่มจะแสดงในตาราง “ตะกร้า (Basket)” สามารถแก้ไขจำนวน หรือระบุ Tank ID ต่อแต่ละวันที่ได้ก่อนบันทึก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36392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73552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8A7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แก้ไข / ลบรายการ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3273552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หากกรอกผิด สามารถแก้ไขค่าจำนวน หรือกดไอคอนถังขยะเพื่อลบรายการออกจากตะกร้าได้ก่อนบันทึกจริง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81144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718304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8A7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3. บันทึกทั้งหมด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4718304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เมื่อครบถ้วนแล้ว กดปุ่ม “บันทึกทั้งหมด” ระบบจะบันทึกทุกรายการในตะกร้าเข้าสู่ระบบพร้อมกัน และแสดงในหน้า “ประวัติและสถานะ” ให้แผนกคลังเห็นทันที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4 · แผนกผลิต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ติดตามสถานะคำขอของตนเอง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เมนู “ประวัติและสถานะ”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706624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6517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แผนกผลิตเข้าดูหน้านี้ได้ในโหมด อ่านอย่างเดียว (Read-only) — เห็นสถานะแต่ไม่สามารถผูก PO หรือส่งอีเมลได้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73552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21868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ดูได้ว่าคำขอแต่ละรายการถูก แผนกคลังผูก PO แล้วหรือยัง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840480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ดูสถานะการส่งอีเมลถึง Supplier (Pending / Sent)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407408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352544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ดูสถานะการรับวัตถุดิบจริง (Received / รอรับ) เพื่อวางแผนการผลิตล่วงหน้า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974336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91947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หากพบข้อมูลผิดพลาด ให้ประสานแผนกคลังเพื่อแก้ไข เนื่องจากแผนกผลิตไม่มีสิทธิ์แก้ไขข้อมูล PO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8A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286000"/>
            <a:ext cx="6400800" cy="6400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3317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D3A70"/>
          </a:solidFill>
          <a:ln w="12700">
            <a:solidFill>
              <a:srgbClr val="1D3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แผนกคลัง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ส่วนที่ 2: การใช้งานของแผนกคลังสินค้า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C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ตรวจสอบคำขอ ผูก PO ส่งอีเมล และบันทึกรับของ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บทบาทและหน้าที่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D3A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54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5 · แผนกคลัง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นำเข้าข้อมูล PO (เมนู “ข้อมูล PO”)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42492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0">
                <a:alpha val="35000"/>
              </a:srgbClr>
            </a:outerShdw>
          </a:effectLst>
        </p:spPr>
      </p:sp>
      <p:pic>
        <p:nvPicPr>
          <p:cNvPr id="5" name="Image 0" descr="/tmp/deckbuild/img/01_po_adm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0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ตารางรายการ PO ทั้งหมดจากระบบ SAP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วิธีในการนำเข้า PO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21945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อัปโหลดไฟล์ XLSX ที่ Export จาก SAP โดยตรง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2971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หรือกด “ดึงจาก SAP อัตโนมัติ” หากเชื่อมต่อระบบไว้แล้ว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816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ใช้ตัวกรอง โรงงาน / วัตถุดิบ / สถานะ PO เพื่อค้นหา PO ที่ต้องการได้รวดเร็ว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38160" y="4526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แต่ละแผนกคลังจะเห็นเฉพาะ PO ของโรงงานตนเอง (ยกเว้น Admin เห็นทุกโรงงาน)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5 (ต่อ) · แผนกคลัง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สถานะ PO และการเปิด/ปิดใช้งาน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Active (ยังไม่ครบ)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 ที่ยังมีจำนวนค้างรับ ระบบจะแสดงในตัวเลือกให้ผูกกับคำขอใหม่ได้ตามปกติ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5B6B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468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Closed (ครบแล้ว)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31546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 ที่ได้รับครบจำนวนแล้ว (Deliv. Compl.) จะไม่แสดงในตัวเลือกผูก PO ของหน้าประวัติอีกต่อไป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468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ปุ่มเปิด/ปิดใช้งาน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31546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แผนกคลังหรือ Admin สามารถสลับสถานะ Active ของ PO แต่ละรายการได้ด้วยตนเอง หากมีการยกเลิกหรือปิด PO ก่อนกำหนด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6 · แผนกคลัง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ตรวจสอบคำขอ และผูก PO (เมนู “ประวัติและสถานะ”)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42492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0">
                <a:alpha val="35000"/>
              </a:srgbClr>
            </a:outerShdw>
          </a:effectLst>
        </p:spPr>
      </p:sp>
      <p:pic>
        <p:nvPicPr>
          <p:cNvPr id="5" name="Image 0" descr="/tmp/deckbuild/img/06_history_da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0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รายการคำขอจากแผนกผลิต พร้อมช่องเลือก PO ต่อแถว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วิธีตรวจสอบและผูก PO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23317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กรองรายการตามโรงงาน / Supplier / ช่วงวันที่ส่งมอบ หรือแยกดูตามชนิดวัตถุดิบ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32918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แต่ละแถวมีช่องดรอปดาวน์ “เลือก PO...” เลือกเลขที่ PO ที่ตรงกับรายการ แล้วกดยืนยัน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8160" y="42519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หลังผูก PO ครบ ให้ติ๊กเลือกรายการ แล้วกด “สร้างอีเมล” เพื่อไปยังขั้นตอนถัดไป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7 · แผนกคลัง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ส่งอีเมลแจ้ง Supplier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ระบบสร้างพรีวิวอีเมลอัตโนมัติ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33172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แสดงรายละเอียด PO วัตถุดิบ จำนวน และวันที่ต้องการให้ Supplier มาส่งมอบ พร้อมโลโก้บริษัทในอีเมล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182112"/>
            <a:ext cx="502920" cy="50292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13639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ตรวจสอบความถูกต้อง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45920" y="350215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ตรวจชื่อ Supplier ผู้รับ (To) และเนื้อหาก่อนส่งจริง — แก้ไขที่หน้าประวัติหากพบข้อมูลผิด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352544"/>
            <a:ext cx="502920" cy="50292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430682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กดปุ่ม “ส่ง Email” และยืนยัน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45920" y="4672584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ระบบจะขึ้นกล่องยืนยันอีกครั้งก่อนส่งจริง เพื่อป้องกันการส่งอีเมลผิดพลาด เมื่อยืนยันแล้วสถานะจะเปลี่ยนเป็น Sent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7 (ต่อ) · แผนกคลัง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ตัวอย่างหน้าจอ Preview อีเมล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42492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0">
                <a:alpha val="35000"/>
              </a:srgbClr>
            </a:outerShdw>
          </a:effectLst>
        </p:spPr>
      </p:sp>
      <p:pic>
        <p:nvPicPr>
          <p:cNvPr id="5" name="Image 0" descr="/tmp/deckbuild/img/09_email_pre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0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Preview อีเมล Supplier ก่อนกดส่งจริง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สิ่งที่ควรตรวจสอบก่อนกดส่ง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21945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From / To / Cc — ต้องเป็นอีเมลที่ถูกต้องตามที่ตั้งค่าไว้ในระบบ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2971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Subject — ระบุชื่อวัตถุดิบและโรงงานให้ตรงกับคำขอ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816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ตารางรายละเอียด — วันที่ส่งมอบ และจำนวน (IBC / kg) ให้ตรงกับที่แผนกผลิตร้องขอ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38160" y="4526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เมื่อทุกอย่างถูกต้อง ให้กดปุ่ม “ส่ง email” มุมขวาบน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8 · แผนกคลัง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บันทึกรับวัตถุดิบ (เมนู “รับวัตถุดิบ”)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42492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0">
                <a:alpha val="35000"/>
              </a:srgbClr>
            </a:outerShdw>
          </a:effectLst>
        </p:spPr>
      </p:sp>
      <p:pic>
        <p:nvPicPr>
          <p:cNvPr id="5" name="Image 0" descr="/tmp/deckbuild/img/07_rece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315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0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สรุปสถิติการรับเข้า และรายการรอบันทึก Goods Receipt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เมื่อวัตถุดิบมาถึงโรงงาน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21945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ค้นหารายการที่รอรับ ตามโรงงาน / เดือน / สถานะ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2971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กด “บันทึก” ที่แถวรายการ เพื่อกรอกน้ำหนักที่ชั่งได้จริง (Goods Receipt)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816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ระบบคำนวณส่วนต่างระหว่างยอดแผน ยอดผู้ผลิตแจ้ง และยอดชั่งจริงให้อัตโนมัติ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38160" y="4526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เมื่อรับครบตามจำนวน PO สถานะจะถูกปิดโดยอัตโนมัติ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9 · แผนกคลัง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สรุปรายเดือนถึงทีม PAN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ปุ่ม “สรุปรายเดือน” ในหน้ารับวัตถุดิบ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706624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6517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รวบรวมยอดรับวัตถุดิบทั้งหมดของเดือนนั้น แยกตามวัตถุดิบและ Supplier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73552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21868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สร้างอีเมลพรีวิวสรุปยอดส่งให้ทีม PAN โดยอัตโนมัติ ไม่ต้องคีย์ข้อมูลซ้ำ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840480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ใช้เป็นข้อมูลกระทบยอดกับบัญชีและการวางแผนจัดซื้อในรอบถัดไป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407408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352544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ควรดำเนินการทุกสิ้นเดือน เพื่อให้ข้อมูลสรุปครบถ้วนตรงเวลา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ใครเข้าเมนูไหนได้บ้าง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530352"/>
          </a:xfrm>
          <a:prstGeom prst="rect">
            <a:avLst/>
          </a:prstGeom>
          <a:solidFill>
            <a:srgbClr val="1D3A70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06240" y="1691640"/>
            <a:ext cx="2560320" cy="530352"/>
          </a:xfrm>
          <a:prstGeom prst="rect">
            <a:avLst/>
          </a:prstGeom>
          <a:solidFill>
            <a:srgbClr val="1D3A70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6916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แผนกผลิต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0" y="1691640"/>
            <a:ext cx="2560320" cy="530352"/>
          </a:xfrm>
          <a:prstGeom prst="rect">
            <a:avLst/>
          </a:prstGeom>
          <a:solidFill>
            <a:srgbClr val="1D3A70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6916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แผนกคลัง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0" y="1691640"/>
            <a:ext cx="2286000" cy="530352"/>
          </a:xfrm>
          <a:prstGeom prst="rect">
            <a:avLst/>
          </a:prstGeom>
          <a:solidFill>
            <a:srgbClr val="1D3A70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0" y="169164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21992"/>
            <a:ext cx="365760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2199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(Dashboard)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2221992"/>
            <a:ext cx="256032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22199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2221992"/>
            <a:ext cx="256032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22199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26880" y="2221992"/>
            <a:ext cx="228600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222199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752344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5234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เรียกเข้าวัตถุดิบ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06240" y="2752344"/>
            <a:ext cx="2560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75234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ใช้งานเต็มสิทธิ์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66560" y="2752344"/>
            <a:ext cx="2560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75234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อ่านอย่างเดียว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326880" y="2752344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275234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282696"/>
            <a:ext cx="365760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8269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PO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06240" y="3282696"/>
            <a:ext cx="256032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328269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– ไม่แสดงเมนู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766560" y="3282696"/>
            <a:ext cx="256032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28269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ใช้งานเต็มสิทธิ์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26880" y="3282696"/>
            <a:ext cx="228600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0" y="328269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813048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1304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ประวัติและสถานะ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206240" y="3813048"/>
            <a:ext cx="2560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81304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อ่านอย่างเดียว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766560" y="3813048"/>
            <a:ext cx="2560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81304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ใช้งานเต็มสิทธิ์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326880" y="3813048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0" y="381304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4343400"/>
            <a:ext cx="365760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3434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รับวัตถุดิบ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206240" y="4343400"/>
            <a:ext cx="256032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43434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– ไม่แสดงเมนู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766560" y="4343400"/>
            <a:ext cx="256032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43434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ใช้งานเต็มสิทธิ์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326880" y="4343400"/>
            <a:ext cx="2286000" cy="530352"/>
          </a:xfrm>
          <a:prstGeom prst="rect">
            <a:avLst/>
          </a:prstGeom>
          <a:solidFill>
            <a:srgbClr val="E4F3F1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18320" y="43434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4873752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48737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จัดการข้อมูล &amp; สิทธิ์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206240" y="4873752"/>
            <a:ext cx="2560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0" y="487375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– ไม่แสดงเมนู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766560" y="4873752"/>
            <a:ext cx="2560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487375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– ไม่แสดงเมนู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9326880" y="4873752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18320" y="487375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A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แผนการขยายผล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กำหนดการ UAT และเป้าหมายการใช้งานจริง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ใช้งานจริงแล้ว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โรงงานปทุมธานี (PT)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0" y="169164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1D3A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6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กำหนดการ UAT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1488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 กรกฎาคม 2026  —  5 โรงงานที่เหลือ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C8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88336" y="32004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C8A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32004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28032" y="32004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C8A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2004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67728" y="32004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C8A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32004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07424" y="32004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C8A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32004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NP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A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ระหว่างและหลัง UAT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992624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49377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แต่ละโรงงานสามารถให้คำแนะนำหรือแจ้งความต้องการเพิ่มเติมได้ เพื่อนำไปปรับปรุงระบบก่อนใช้งานจริง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5541264"/>
            <a:ext cx="91440" cy="91440"/>
          </a:xfrm>
          <a:prstGeom prst="ellipse">
            <a:avLst/>
          </a:prstGeom>
          <a:solidFill>
            <a:srgbClr val="0C8A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54864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เป้าหมาย: ใช้งานจริง 100% ทุกโรงงาน ภายในเดือนสิงหาคม 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8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C8A7E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 / ขอบคุณค่ะ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มีข้อสงสัยเกี่ยวกับการใช้งานระบบ MATCALL หรือพบปัญหาระหว่างใช้งาน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สามารถติดต่อทีมงาน OI Digital Center ได้ทันที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2743200" cy="0"/>
          </a:xfrm>
          <a:prstGeom prst="line">
            <a:avLst/>
          </a:prstGeom>
          <a:noFill/>
          <a:ln w="25400">
            <a:solidFill>
              <a:srgbClr val="0C8A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MATCALL CALL-OFF SYSTEM  |  TPM OI Digital Center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2026-07-23T04:30:46Z</dcterms:created>
  <dcterms:modified xsi:type="dcterms:W3CDTF">2026-07-23T04:30:46Z</dcterms:modified>
</cp:coreProperties>
</file>